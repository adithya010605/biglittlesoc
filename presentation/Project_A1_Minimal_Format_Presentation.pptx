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79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22338"/>
                </a:solidFill>
                <a:latin typeface="Aptos"/>
              </a:rPr>
              <a:t>Scanned copy of the guide-signed first slide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1920240" y="1417320"/>
            <a:ext cx="8321040" cy="4526280"/>
          </a:xfrm>
          <a:prstGeom prst="rect">
            <a:avLst/>
          </a:prstGeom>
          <a:solidFill>
            <a:srgbClr val="FAFCFD"/>
          </a:solidFill>
          <a:ln w="19050">
            <a:solidFill>
              <a:srgbClr val="AAB9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40280" y="3154680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5F6E7D"/>
                </a:solidFill>
                <a:latin typeface="Aptos"/>
              </a:rPr>
              <a:t>Insert scanned guide-signed first slide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1722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F6E7D"/>
                </a:solidFill>
                <a:latin typeface="Aptos"/>
              </a:rPr>
              <a:t>Placeholder included because no signed scan image was found in the project folder.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79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22338"/>
                </a:solidFill>
                <a:latin typeface="Aptos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F6E7D"/>
                </a:solidFill>
                <a:latin typeface="Aptos"/>
              </a:rPr>
              <a:t>Project A1: big.LITTLE Heterogeneous Multi-Core SoC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607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42D37"/>
                </a:solidFill>
                <a:latin typeface="Aptos"/>
              </a:defRPr>
            </a:pPr>
            <a:r>
              <a:t>Design a RISC-V based heterogeneous multi-core SoC using performance and efficiency cores.</a:t>
            </a:r>
          </a:p>
          <a:p>
            <a:pPr>
              <a:spcAft>
                <a:spcPts val="1200"/>
              </a:spcAft>
              <a:defRPr sz="2000">
                <a:solidFill>
                  <a:srgbClr val="242D37"/>
                </a:solidFill>
                <a:latin typeface="Aptos"/>
              </a:defRPr>
            </a:pPr>
            <a:r>
              <a:t>Use a big.LITTLE style architecture to balance compute performance and energy usage.</a:t>
            </a:r>
          </a:p>
          <a:p>
            <a:pPr>
              <a:spcAft>
                <a:spcPts val="1200"/>
              </a:spcAft>
              <a:defRPr sz="2000">
                <a:solidFill>
                  <a:srgbClr val="242D37"/>
                </a:solidFill>
                <a:latin typeface="Aptos"/>
              </a:defRPr>
            </a:pPr>
            <a:r>
              <a:t>Focus on RTL design, simulation and verification; FPGA implementation is not included.</a:t>
            </a:r>
          </a:p>
          <a:p>
            <a:pPr>
              <a:spcAft>
                <a:spcPts val="1200"/>
              </a:spcAft>
              <a:defRPr sz="2000">
                <a:solidFill>
                  <a:srgbClr val="242D37"/>
                </a:solidFill>
                <a:latin typeface="Aptos"/>
              </a:defRPr>
            </a:pPr>
            <a:r>
              <a:t>Optional extension: ASIC flow up to GDSII if time permits.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79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22338"/>
                </a:solidFill>
                <a:latin typeface="Aptos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42D37"/>
                </a:solidFill>
                <a:latin typeface="Aptos"/>
              </a:defRPr>
            </a:pPr>
            <a:r>
              <a:t>Single-core designs cannot efficiently handle both high-performance and low-power workloads.</a:t>
            </a:r>
          </a:p>
          <a:p>
            <a:pPr>
              <a:spcAft>
                <a:spcPts val="1200"/>
              </a:spcAft>
              <a:defRPr sz="2000">
                <a:solidFill>
                  <a:srgbClr val="242D37"/>
                </a:solidFill>
                <a:latin typeface="Aptos"/>
              </a:defRPr>
            </a:pPr>
            <a:r>
              <a:t>A multi-core SoC requires correct communication between cores, memory and peripherals.</a:t>
            </a:r>
          </a:p>
          <a:p>
            <a:pPr>
              <a:spcAft>
                <a:spcPts val="1200"/>
              </a:spcAft>
              <a:defRPr sz="2000">
                <a:solidFill>
                  <a:srgbClr val="242D37"/>
                </a:solidFill>
                <a:latin typeface="Aptos"/>
              </a:defRPr>
            </a:pPr>
            <a:r>
              <a:t>Shared-memory systems need cache coherence to avoid stale or inconsistent data.</a:t>
            </a:r>
          </a:p>
          <a:p>
            <a:pPr>
              <a:spcAft>
                <a:spcPts val="1200"/>
              </a:spcAft>
              <a:defRPr sz="2000">
                <a:solidFill>
                  <a:srgbClr val="242D37"/>
                </a:solidFill>
                <a:latin typeface="Aptos"/>
              </a:defRPr>
            </a:pPr>
            <a:r>
              <a:t>The project addresses these challenges using a compact RISC-V heterogeneous SoC design.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79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22338"/>
                </a:solidFill>
                <a:latin typeface="Aptos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42D37"/>
                </a:solidFill>
                <a:latin typeface="Aptos"/>
              </a:defRPr>
            </a:pPr>
            <a:r>
              <a:t>Design RV32I efficiency cores and RV32IM performance cores.</a:t>
            </a:r>
          </a:p>
          <a:p>
            <a:pPr>
              <a:spcAft>
                <a:spcPts val="1200"/>
              </a:spcAft>
              <a:defRPr sz="2000">
                <a:solidFill>
                  <a:srgbClr val="242D37"/>
                </a:solidFill>
                <a:latin typeface="Aptos"/>
              </a:defRPr>
            </a:pPr>
            <a:r>
              <a:t>Integrate cores through a simple shared-memory SoC architecture.</a:t>
            </a:r>
          </a:p>
          <a:p>
            <a:pPr>
              <a:spcAft>
                <a:spcPts val="1200"/>
              </a:spcAft>
              <a:defRPr sz="2000">
                <a:solidFill>
                  <a:srgbClr val="242D37"/>
                </a:solidFill>
                <a:latin typeface="Aptos"/>
              </a:defRPr>
            </a:pPr>
            <a:r>
              <a:t>Implement memory, interconnect and basic peripheral support.</a:t>
            </a:r>
          </a:p>
          <a:p>
            <a:pPr>
              <a:spcAft>
                <a:spcPts val="1200"/>
              </a:spcAft>
              <a:defRPr sz="2000">
                <a:solidFill>
                  <a:srgbClr val="242D37"/>
                </a:solidFill>
                <a:latin typeface="Aptos"/>
              </a:defRPr>
            </a:pPr>
            <a:r>
              <a:t>Verify processor functionality, memory access and system-level behavior.</a:t>
            </a:r>
          </a:p>
          <a:p>
            <a:pPr>
              <a:spcAft>
                <a:spcPts val="1200"/>
              </a:spcAft>
              <a:defRPr sz="2000">
                <a:solidFill>
                  <a:srgbClr val="242D37"/>
                </a:solidFill>
                <a:latin typeface="Aptos"/>
              </a:defRPr>
            </a:pPr>
            <a:r>
              <a:t>Generate synthesis reports and attempt ASIC physical design flow only if schedule allows.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79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22338"/>
                </a:solidFill>
                <a:latin typeface="Aptos"/>
              </a:rPr>
              <a:t>Proposed Methodology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2057400" cy="1234440"/>
          </a:xfrm>
          <a:prstGeom prst="roundRect">
            <a:avLst/>
          </a:prstGeom>
          <a:solidFill>
            <a:srgbClr val="E0F4EF"/>
          </a:solidFill>
          <a:ln w="12700">
            <a:solidFill>
              <a:srgbClr val="279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/>
          <a:lstStyle/>
          <a:p>
            <a:pPr algn="ctr"/>
            <a:r>
              <a:rPr sz="1800" b="1">
                <a:solidFill>
                  <a:srgbClr val="122338"/>
                </a:solidFill>
                <a:latin typeface="Aptos"/>
              </a:rPr>
              <a:t>Step 1</a:t>
            </a:r>
          </a:p>
          <a:p>
            <a:pPr algn="ctr"/>
            <a:r>
              <a:rPr sz="1300">
                <a:solidFill>
                  <a:srgbClr val="5F6E7D"/>
                </a:solidFill>
                <a:latin typeface="Aptos"/>
              </a:rPr>
              <a:t>Build and verify basic RV32I E-Core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71800" y="1508760"/>
            <a:ext cx="2057400" cy="1234440"/>
          </a:xfrm>
          <a:prstGeom prst="roundRect">
            <a:avLst/>
          </a:prstGeom>
          <a:solidFill>
            <a:srgbClr val="E0EEF8"/>
          </a:solidFill>
          <a:ln w="12700">
            <a:solidFill>
              <a:srgbClr val="2A7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/>
          <a:lstStyle/>
          <a:p>
            <a:pPr algn="ctr"/>
            <a:r>
              <a:rPr sz="1800" b="1">
                <a:solidFill>
                  <a:srgbClr val="122338"/>
                </a:solidFill>
                <a:latin typeface="Aptos"/>
              </a:rPr>
              <a:t>Step 2</a:t>
            </a:r>
          </a:p>
          <a:p>
            <a:pPr algn="ctr"/>
            <a:r>
              <a:rPr sz="1300">
                <a:solidFill>
                  <a:srgbClr val="5F6E7D"/>
                </a:solidFill>
                <a:latin typeface="Aptos"/>
              </a:rPr>
              <a:t>Develop RV32IM P-Core with 5-stage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57800" y="1508760"/>
            <a:ext cx="2057400" cy="1234440"/>
          </a:xfrm>
          <a:prstGeom prst="roundRect">
            <a:avLst/>
          </a:prstGeom>
          <a:solidFill>
            <a:srgbClr val="EFF5F8"/>
          </a:solidFill>
          <a:ln w="12700">
            <a:solidFill>
              <a:srgbClr val="2A7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/>
          <a:lstStyle/>
          <a:p>
            <a:pPr algn="ctr"/>
            <a:r>
              <a:rPr sz="1800" b="1">
                <a:solidFill>
                  <a:srgbClr val="122338"/>
                </a:solidFill>
                <a:latin typeface="Aptos"/>
              </a:rPr>
              <a:t>Step 3</a:t>
            </a:r>
          </a:p>
          <a:p>
            <a:pPr algn="ctr"/>
            <a:r>
              <a:rPr sz="1300">
                <a:solidFill>
                  <a:srgbClr val="5F6E7D"/>
                </a:solidFill>
                <a:latin typeface="Aptos"/>
              </a:rPr>
              <a:t>Add interconnect, SRAM, ROM, UART and timer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508760"/>
            <a:ext cx="2057400" cy="1234440"/>
          </a:xfrm>
          <a:prstGeom prst="roundRect">
            <a:avLst/>
          </a:prstGeom>
          <a:solidFill>
            <a:srgbClr val="E0F4EF"/>
          </a:solidFill>
          <a:ln w="12700">
            <a:solidFill>
              <a:srgbClr val="279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/>
          <a:lstStyle/>
          <a:p>
            <a:pPr algn="ctr"/>
            <a:r>
              <a:rPr sz="1800" b="1">
                <a:solidFill>
                  <a:srgbClr val="122338"/>
                </a:solidFill>
                <a:latin typeface="Aptos"/>
              </a:rPr>
              <a:t>Step 4</a:t>
            </a:r>
          </a:p>
          <a:p>
            <a:pPr algn="ctr"/>
            <a:r>
              <a:rPr sz="1300">
                <a:solidFill>
                  <a:srgbClr val="5F6E7D"/>
                </a:solidFill>
                <a:latin typeface="Aptos"/>
              </a:rPr>
              <a:t>Integrate cores and run system tests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29800" y="1508760"/>
            <a:ext cx="1737360" cy="1234440"/>
          </a:xfrm>
          <a:prstGeom prst="roundRect">
            <a:avLst/>
          </a:prstGeom>
          <a:solidFill>
            <a:srgbClr val="EFF5F8"/>
          </a:solidFill>
          <a:ln w="12700">
            <a:solidFill>
              <a:srgbClr val="2A7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/>
          <a:lstStyle/>
          <a:p>
            <a:pPr algn="ctr"/>
            <a:r>
              <a:rPr sz="1800" b="1">
                <a:solidFill>
                  <a:srgbClr val="122338"/>
                </a:solidFill>
                <a:latin typeface="Aptos"/>
              </a:rPr>
              <a:t>Step 5</a:t>
            </a:r>
          </a:p>
          <a:p>
            <a:pPr algn="ctr"/>
            <a:r>
              <a:rPr sz="1300">
                <a:solidFill>
                  <a:srgbClr val="5F6E7D"/>
                </a:solidFill>
                <a:latin typeface="Aptos"/>
              </a:rPr>
              <a:t>Synthesis and optional GDSII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10058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42D37"/>
                </a:solidFill>
                <a:latin typeface="Aptos"/>
              </a:defRPr>
            </a:pPr>
            <a:r>
              <a:t>Develop each module with its own testbench before full SoC integration.</a:t>
            </a:r>
          </a:p>
          <a:p>
            <a:pPr>
              <a:spcAft>
                <a:spcPts val="1200"/>
              </a:spcAft>
              <a:defRPr sz="1800">
                <a:solidFill>
                  <a:srgbClr val="242D37"/>
                </a:solidFill>
                <a:latin typeface="Aptos"/>
              </a:defRPr>
            </a:pPr>
            <a:r>
              <a:t>Keep advanced cache coherence and migration features as stretch goals after the MVP is stable.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79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22338"/>
                </a:solidFill>
                <a:latin typeface="Aptos"/>
              </a:rPr>
              <a:t>Expected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42D37"/>
                </a:solidFill>
                <a:latin typeface="Aptos"/>
              </a:defRPr>
            </a:pPr>
            <a:r>
              <a:t>A modular RTL design of a heterogeneous RISC-V multi-core SoC.</a:t>
            </a:r>
          </a:p>
          <a:p>
            <a:pPr>
              <a:spcAft>
                <a:spcPts val="1200"/>
              </a:spcAft>
              <a:defRPr sz="2000">
                <a:solidFill>
                  <a:srgbClr val="242D37"/>
                </a:solidFill>
                <a:latin typeface="Aptos"/>
              </a:defRPr>
            </a:pPr>
            <a:r>
              <a:t>Verified core execution for selected RISC-V instruction tests.</a:t>
            </a:r>
          </a:p>
          <a:p>
            <a:pPr>
              <a:spcAft>
                <a:spcPts val="1200"/>
              </a:spcAft>
              <a:defRPr sz="2000">
                <a:solidFill>
                  <a:srgbClr val="242D37"/>
                </a:solidFill>
                <a:latin typeface="Aptos"/>
              </a:defRPr>
            </a:pPr>
            <a:r>
              <a:t>Working SoC-level memory and peripheral communication.</a:t>
            </a:r>
          </a:p>
          <a:p>
            <a:pPr>
              <a:spcAft>
                <a:spcPts val="1200"/>
              </a:spcAft>
              <a:defRPr sz="2000">
                <a:solidFill>
                  <a:srgbClr val="242D37"/>
                </a:solidFill>
                <a:latin typeface="Aptos"/>
              </a:defRPr>
            </a:pPr>
            <a:r>
              <a:t>Simulation waveforms, logs and regression results as project evidence.</a:t>
            </a:r>
          </a:p>
          <a:p>
            <a:pPr>
              <a:spcAft>
                <a:spcPts val="1200"/>
              </a:spcAft>
              <a:defRPr sz="2000">
                <a:solidFill>
                  <a:srgbClr val="242D37"/>
                </a:solidFill>
                <a:latin typeface="Aptos"/>
              </a:defRPr>
            </a:pPr>
            <a:r>
              <a:t>Synthesis results and optional physical-design output if completed.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79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22338"/>
                </a:solidFill>
                <a:latin typeface="Aptos"/>
              </a:rPr>
              <a:t>Tools/Technologies to be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42D37"/>
                </a:solidFill>
                <a:latin typeface="Aptos"/>
              </a:defRPr>
            </a:pPr>
            <a:r>
              <a:t>SystemVerilog or Verilog for RTL design.</a:t>
            </a:r>
          </a:p>
          <a:p>
            <a:pPr>
              <a:spcAft>
                <a:spcPts val="1200"/>
              </a:spcAft>
              <a:defRPr sz="1800">
                <a:solidFill>
                  <a:srgbClr val="242D37"/>
                </a:solidFill>
                <a:latin typeface="Aptos"/>
              </a:defRPr>
            </a:pPr>
            <a:r>
              <a:t>Verilator / Icarus Verilog for simulation and linting.</a:t>
            </a:r>
          </a:p>
          <a:p>
            <a:pPr>
              <a:spcAft>
                <a:spcPts val="1200"/>
              </a:spcAft>
              <a:defRPr sz="1800">
                <a:solidFill>
                  <a:srgbClr val="242D37"/>
                </a:solidFill>
                <a:latin typeface="Aptos"/>
              </a:defRPr>
            </a:pPr>
            <a:r>
              <a:t>GTKWave for waveform analysis.</a:t>
            </a:r>
          </a:p>
          <a:p>
            <a:pPr>
              <a:spcAft>
                <a:spcPts val="1200"/>
              </a:spcAft>
              <a:defRPr sz="1800">
                <a:solidFill>
                  <a:srgbClr val="242D37"/>
                </a:solidFill>
                <a:latin typeface="Aptos"/>
              </a:defRPr>
            </a:pPr>
            <a:r>
              <a:t>RISC-V GCC toolchain for bare-metal test programs.</a:t>
            </a:r>
          </a:p>
          <a:p>
            <a:pPr>
              <a:spcAft>
                <a:spcPts val="1200"/>
              </a:spcAft>
              <a:defRPr sz="1800">
                <a:solidFill>
                  <a:srgbClr val="242D37"/>
                </a:solidFill>
                <a:latin typeface="Aptos"/>
              </a:defRPr>
            </a:pPr>
            <a:r>
              <a:t>Yosys for synthesis and area estimation.</a:t>
            </a:r>
          </a:p>
          <a:p>
            <a:pPr>
              <a:spcAft>
                <a:spcPts val="1200"/>
              </a:spcAft>
              <a:defRPr sz="1800">
                <a:solidFill>
                  <a:srgbClr val="242D37"/>
                </a:solidFill>
                <a:latin typeface="Aptos"/>
              </a:defRPr>
            </a:pPr>
            <a:r>
              <a:t>OpenROAD / OpenLane for optional RTL-to-GDSII exploration.</a:t>
            </a:r>
          </a:p>
          <a:p>
            <a:pPr>
              <a:spcAft>
                <a:spcPts val="1200"/>
              </a:spcAft>
              <a:defRPr sz="1800">
                <a:solidFill>
                  <a:srgbClr val="242D37"/>
                </a:solidFill>
                <a:latin typeface="Aptos"/>
              </a:defRPr>
            </a:pPr>
            <a:r>
              <a:t>Git and Makefiles for version control and repeatable runs.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79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22338"/>
                </a:solidFill>
                <a:latin typeface="Aptos"/>
              </a:rPr>
              <a:t>Project Timeline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234440"/>
            <a:ext cx="1965960" cy="457200"/>
          </a:xfrm>
          <a:prstGeom prst="roundRect">
            <a:avLst/>
          </a:prstGeom>
          <a:solidFill>
            <a:srgbClr val="E0EEF8"/>
          </a:solidFill>
          <a:ln w="12700">
            <a:solidFill>
              <a:srgbClr val="2A7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/>
          <a:lstStyle/>
          <a:p>
            <a:pPr algn="ctr"/>
            <a:r>
              <a:rPr sz="1800" b="1">
                <a:solidFill>
                  <a:srgbClr val="122338"/>
                </a:solidFill>
                <a:latin typeface="Aptos"/>
              </a:rPr>
              <a:t>Weeks 1-2</a:t>
            </a:r>
          </a:p>
          <a:p>
            <a:pPr algn="ctr"/>
            <a:r>
              <a:rPr sz="1300">
                <a:solidFill>
                  <a:srgbClr val="5F6E7D"/>
                </a:solidFill>
                <a:latin typeface="Aptos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54680" y="1316736"/>
            <a:ext cx="7680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42D37"/>
                </a:solidFill>
                <a:latin typeface="Aptos"/>
              </a:rPr>
              <a:t>Architecture, ISA scope and interface definition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947672"/>
            <a:ext cx="1965960" cy="457200"/>
          </a:xfrm>
          <a:prstGeom prst="roundRect">
            <a:avLst/>
          </a:prstGeom>
          <a:solidFill>
            <a:srgbClr val="E0F4EF"/>
          </a:solidFill>
          <a:ln w="12700">
            <a:solidFill>
              <a:srgbClr val="2A7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/>
          <a:lstStyle/>
          <a:p>
            <a:pPr algn="ctr"/>
            <a:r>
              <a:rPr sz="1800" b="1">
                <a:solidFill>
                  <a:srgbClr val="122338"/>
                </a:solidFill>
                <a:latin typeface="Aptos"/>
              </a:rPr>
              <a:t>Weeks 3-5</a:t>
            </a:r>
          </a:p>
          <a:p>
            <a:pPr algn="ctr"/>
            <a:r>
              <a:rPr sz="1300">
                <a:solidFill>
                  <a:srgbClr val="5F6E7D"/>
                </a:solidFill>
                <a:latin typeface="Aptos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2029967"/>
            <a:ext cx="7680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42D37"/>
                </a:solidFill>
                <a:latin typeface="Aptos"/>
              </a:rPr>
              <a:t>E-Core RTL and unit verification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660904"/>
            <a:ext cx="1965960" cy="457200"/>
          </a:xfrm>
          <a:prstGeom prst="roundRect">
            <a:avLst/>
          </a:prstGeom>
          <a:solidFill>
            <a:srgbClr val="E0EEF8"/>
          </a:solidFill>
          <a:ln w="12700">
            <a:solidFill>
              <a:srgbClr val="2A7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/>
          <a:lstStyle/>
          <a:p>
            <a:pPr algn="ctr"/>
            <a:r>
              <a:rPr sz="1800" b="1">
                <a:solidFill>
                  <a:srgbClr val="122338"/>
                </a:solidFill>
                <a:latin typeface="Aptos"/>
              </a:rPr>
              <a:t>Weeks 6-8</a:t>
            </a:r>
          </a:p>
          <a:p>
            <a:pPr algn="ctr"/>
            <a:r>
              <a:rPr sz="1300">
                <a:solidFill>
                  <a:srgbClr val="5F6E7D"/>
                </a:solidFill>
                <a:latin typeface="Apto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2743200"/>
            <a:ext cx="7680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42D37"/>
                </a:solidFill>
                <a:latin typeface="Aptos"/>
              </a:rPr>
              <a:t>P-Core RTL and pipeline verification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374136"/>
            <a:ext cx="1965960" cy="457200"/>
          </a:xfrm>
          <a:prstGeom prst="roundRect">
            <a:avLst/>
          </a:prstGeom>
          <a:solidFill>
            <a:srgbClr val="E0F4EF"/>
          </a:solidFill>
          <a:ln w="12700">
            <a:solidFill>
              <a:srgbClr val="2A7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/>
          <a:lstStyle/>
          <a:p>
            <a:pPr algn="ctr"/>
            <a:r>
              <a:rPr sz="1800" b="1">
                <a:solidFill>
                  <a:srgbClr val="122338"/>
                </a:solidFill>
                <a:latin typeface="Aptos"/>
              </a:rPr>
              <a:t>Weeks 9-11</a:t>
            </a:r>
          </a:p>
          <a:p>
            <a:pPr algn="ctr"/>
            <a:r>
              <a:rPr sz="1300">
                <a:solidFill>
                  <a:srgbClr val="5F6E7D"/>
                </a:solidFill>
                <a:latin typeface="Aptos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3456432"/>
            <a:ext cx="7680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42D37"/>
                </a:solidFill>
                <a:latin typeface="Aptos"/>
              </a:rPr>
              <a:t>Memory, interconnect and peripheral integration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4087368"/>
            <a:ext cx="1965960" cy="457200"/>
          </a:xfrm>
          <a:prstGeom prst="roundRect">
            <a:avLst/>
          </a:prstGeom>
          <a:solidFill>
            <a:srgbClr val="E0EEF8"/>
          </a:solidFill>
          <a:ln w="12700">
            <a:solidFill>
              <a:srgbClr val="2A7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/>
          <a:lstStyle/>
          <a:p>
            <a:pPr algn="ctr"/>
            <a:r>
              <a:rPr sz="1800" b="1">
                <a:solidFill>
                  <a:srgbClr val="122338"/>
                </a:solidFill>
                <a:latin typeface="Aptos"/>
              </a:rPr>
              <a:t>Weeks 12-14</a:t>
            </a:r>
          </a:p>
          <a:p>
            <a:pPr algn="ctr"/>
            <a:r>
              <a:rPr sz="1300">
                <a:solidFill>
                  <a:srgbClr val="5F6E7D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4169664"/>
            <a:ext cx="7680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42D37"/>
                </a:solidFill>
                <a:latin typeface="Aptos"/>
              </a:rPr>
              <a:t>SoC-level verification and regression cleanup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800600"/>
            <a:ext cx="1965960" cy="457200"/>
          </a:xfrm>
          <a:prstGeom prst="roundRect">
            <a:avLst/>
          </a:prstGeom>
          <a:solidFill>
            <a:srgbClr val="E0F4EF"/>
          </a:solidFill>
          <a:ln w="12700">
            <a:solidFill>
              <a:srgbClr val="2A7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/>
          <a:lstStyle/>
          <a:p>
            <a:pPr algn="ctr"/>
            <a:r>
              <a:rPr sz="1800" b="1">
                <a:solidFill>
                  <a:srgbClr val="122338"/>
                </a:solidFill>
                <a:latin typeface="Aptos"/>
              </a:rPr>
              <a:t>Weeks 15-16</a:t>
            </a:r>
          </a:p>
          <a:p>
            <a:pPr algn="ctr"/>
            <a:r>
              <a:rPr sz="1300">
                <a:solidFill>
                  <a:srgbClr val="5F6E7D"/>
                </a:solidFill>
                <a:latin typeface="Aptos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4882896"/>
            <a:ext cx="7680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42D37"/>
                </a:solidFill>
                <a:latin typeface="Aptos"/>
              </a:rPr>
              <a:t>Synthesis, documentation and optional GDSII flow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79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22338"/>
                </a:solidFill>
                <a:latin typeface="Aptos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42D37"/>
                </a:solidFill>
                <a:latin typeface="Aptos"/>
              </a:defRPr>
            </a:pPr>
            <a:r>
              <a:t>RISC-V Instruction Set Manual, Volume I: Unprivileged ISA.</a:t>
            </a:r>
          </a:p>
          <a:p>
            <a:pPr>
              <a:spcAft>
                <a:spcPts val="1200"/>
              </a:spcAft>
              <a:defRPr sz="1800">
                <a:solidFill>
                  <a:srgbClr val="242D37"/>
                </a:solidFill>
                <a:latin typeface="Aptos"/>
              </a:defRPr>
            </a:pPr>
            <a:r>
              <a:t>RISC-V Privileged Architecture Specification.</a:t>
            </a:r>
          </a:p>
          <a:p>
            <a:pPr>
              <a:spcAft>
                <a:spcPts val="1200"/>
              </a:spcAft>
              <a:defRPr sz="1800">
                <a:solidFill>
                  <a:srgbClr val="242D37"/>
                </a:solidFill>
                <a:latin typeface="Aptos"/>
              </a:defRPr>
            </a:pPr>
            <a:r>
              <a:t>ARM big.LITTLE processing architecture concept references.</a:t>
            </a:r>
          </a:p>
          <a:p>
            <a:pPr>
              <a:spcAft>
                <a:spcPts val="1200"/>
              </a:spcAft>
              <a:defRPr sz="1800">
                <a:solidFill>
                  <a:srgbClr val="242D37"/>
                </a:solidFill>
                <a:latin typeface="Aptos"/>
              </a:defRPr>
            </a:pPr>
            <a:r>
              <a:t>OpenROAD / OpenLane documentation for open-source ASIC flow.</a:t>
            </a:r>
          </a:p>
          <a:p>
            <a:pPr>
              <a:spcAft>
                <a:spcPts val="1200"/>
              </a:spcAft>
              <a:defRPr sz="1800">
                <a:solidFill>
                  <a:srgbClr val="242D37"/>
                </a:solidFill>
                <a:latin typeface="Aptos"/>
              </a:defRPr>
            </a:pPr>
            <a:r>
              <a:t>Project planning file: RISC-V_SoC_Project_Plan.md.</a:t>
            </a:r>
          </a:p>
          <a:p>
            <a:pPr>
              <a:spcAft>
                <a:spcPts val="1200"/>
              </a:spcAft>
              <a:defRPr sz="1800">
                <a:solidFill>
                  <a:srgbClr val="242D37"/>
                </a:solidFill>
                <a:latin typeface="Aptos"/>
              </a:defRPr>
            </a:pPr>
            <a:r>
              <a:t>Detailed notes file: Project_A1_Detailed_Design_Notes.md.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A1 - big.LITTLE Heterogeneous Multi-Core SoC</dc:title>
  <dc:subject>Minimal project presentation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