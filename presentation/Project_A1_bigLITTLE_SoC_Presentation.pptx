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772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4B4C4"/>
                </a:solidFill>
                <a:latin typeface="Aptos"/>
              </a:rPr>
              <a:t>Project A1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53312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Aptos"/>
              </a:rPr>
              <a:t>big.LITTLE Heterogeneous
Multi-Core SoC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788920"/>
            <a:ext cx="8869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CCDEE8"/>
                </a:solidFill>
                <a:latin typeface="Aptos"/>
              </a:rPr>
              <a:t>RISC-V based design and verification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913632"/>
            <a:ext cx="2514600" cy="64008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2× P-Cores
RV32IM · 5-stage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3913632"/>
            <a:ext cx="2514600" cy="64008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2× E-Cores
RV32I · 3-stage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3913632"/>
            <a:ext cx="2514600" cy="640080"/>
          </a:xfrm>
          <a:prstGeom prst="roundRect">
            <a:avLst/>
          </a:prstGeom>
          <a:solidFill>
            <a:srgbClr val="FCF0DD"/>
          </a:solidFill>
          <a:ln w="15240">
            <a:solidFill>
              <a:srgbClr val="EA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Shared memory
MSI coherence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3913632"/>
            <a:ext cx="2103120" cy="640080"/>
          </a:xfrm>
          <a:prstGeom prst="roundRect">
            <a:avLst/>
          </a:prstGeom>
          <a:solidFill>
            <a:srgbClr val="F4EBEE"/>
          </a:solidFill>
          <a:ln w="15240">
            <a:solidFill>
              <a:srgbClr val="C94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Optional
ASIC → GDSII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807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EE8"/>
                </a:solidFill>
                <a:latin typeface="Aptos"/>
              </a:rPr>
              <a:t>Scope: RTL design, simulation, verification and synthesis/physical-design exploration. FPGA implementation is excluded.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1. Problem statement &amp; 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Why heterogeneous compute?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D1B2A"/>
                </a:solidFill>
                <a:latin typeface="Aptos"/>
              </a:rPr>
              <a:t>One core type cannot optimize both performance and energy.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C2A39"/>
                </a:solidFill>
                <a:latin typeface="Aptos"/>
              </a:defRPr>
            </a:pPr>
            <a:r>
              <a:t>High-performance cores are fast but consume more dynamic power.</a:t>
            </a:r>
          </a:p>
          <a:p>
            <a:pPr>
              <a:spcAft>
                <a:spcPts val="800"/>
              </a:spcAft>
              <a:defRPr sz="1700">
                <a:solidFill>
                  <a:srgbClr val="1C2A39"/>
                </a:solidFill>
                <a:latin typeface="Aptos"/>
              </a:defRPr>
            </a:pPr>
            <a:r>
              <a:t>Small efficiency cores reduce energy for light or background work.</a:t>
            </a:r>
          </a:p>
          <a:p>
            <a:pPr>
              <a:spcAft>
                <a:spcPts val="800"/>
              </a:spcAft>
              <a:defRPr sz="1700">
                <a:solidFill>
                  <a:srgbClr val="1C2A39"/>
                </a:solidFill>
                <a:latin typeface="Aptos"/>
              </a:defRPr>
            </a:pPr>
            <a:r>
              <a:t>A common ISA and coherent memory let software move work between both.</a:t>
            </a:r>
          </a:p>
          <a:p>
            <a:pPr>
              <a:spcAft>
                <a:spcPts val="800"/>
              </a:spcAft>
              <a:defRPr sz="1700">
                <a:solidFill>
                  <a:srgbClr val="1C2A39"/>
                </a:solidFill>
                <a:latin typeface="Aptos"/>
              </a:defRPr>
            </a:pPr>
            <a:r>
              <a:t>The project demonstrates this trade-off in an implementable RISC-V SoC.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00200"/>
            <a:ext cx="4480560" cy="749808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Goal: a 4-core asymmetric SoC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606040"/>
            <a:ext cx="2011680" cy="105156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P-cluster
Latency / throughput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606040"/>
            <a:ext cx="2011680" cy="105156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E-cluster
Energy efficiency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406640" y="3931920"/>
            <a:ext cx="0" cy="868680"/>
          </a:xfrm>
          <a:prstGeom prst="line">
            <a:avLst/>
          </a:prstGeom>
          <a:ln w="22860">
            <a:solidFill>
              <a:srgbClr val="EA8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875520" y="3931920"/>
            <a:ext cx="0" cy="868680"/>
          </a:xfrm>
          <a:prstGeom prst="line">
            <a:avLst/>
          </a:prstGeom>
          <a:ln w="22860">
            <a:solidFill>
              <a:srgbClr val="EA8B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583680" y="4864608"/>
            <a:ext cx="4069080" cy="731520"/>
          </a:xfrm>
          <a:prstGeom prst="roundRect">
            <a:avLst/>
          </a:prstGeom>
          <a:solidFill>
            <a:srgbClr val="FCF0DD"/>
          </a:solidFill>
          <a:ln w="15240">
            <a:solidFill>
              <a:srgbClr val="EA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C2A39"/>
                </a:solidFill>
                <a:latin typeface="Aptos"/>
              </a:rPr>
              <a:t>Shared L2 + coherent 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2. Scope, assumptions &amp; measurable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A focused A1 build — no Project A2 peripherals or FPGA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29000" cy="50292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2A39"/>
                </a:solidFill>
                <a:latin typeface="Aptos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74519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RV32I E-Core and RV32IM P-Core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Private L1 caches + shared inclusive L2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MSI snooping coherence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Migration controller and clock-gating control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Simulation, regressions, coverage and optional formal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34440"/>
            <a:ext cx="3429000" cy="502920"/>
          </a:xfrm>
          <a:prstGeom prst="roundRect">
            <a:avLst/>
          </a:prstGeom>
          <a:solidFill>
            <a:srgbClr val="F4EBEE"/>
          </a:solidFill>
          <a:ln w="15240">
            <a:solidFill>
              <a:srgbClr val="C94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2A39"/>
                </a:solidFill>
                <a:latin typeface="Aptos"/>
              </a:rPr>
              <a:t>OUT OF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874519"/>
            <a:ext cx="33375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Project A2 UMA fabric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ML accelerator and DMA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FPGA board integration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Production tape-out commitment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234440"/>
            <a:ext cx="3337560" cy="50292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2A39"/>
                </a:solidFill>
                <a:latin typeface="Aptos"/>
              </a:rPr>
              <a:t>SUCCESS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1874519"/>
            <a:ext cx="3154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RISC-V ISA regressions pass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Coherent producer–consumer test passes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State-preserving P↔E migration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Synthesis reports; physical flow to GDSII if schedule permits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3. Top-level SoC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All modules communicate through a simple coherent system fabric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920240" cy="77724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C2A39"/>
                </a:solidFill>
                <a:latin typeface="Aptos"/>
              </a:rPr>
              <a:t>P-Core 0
RV32IM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423160"/>
            <a:ext cx="1920240" cy="77724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C2A39"/>
                </a:solidFill>
                <a:latin typeface="Aptos"/>
              </a:rPr>
              <a:t>P-Core 1
RV32IM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371600"/>
            <a:ext cx="1920240" cy="77724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C2A39"/>
                </a:solidFill>
                <a:latin typeface="Aptos"/>
              </a:rPr>
              <a:t>E-Core 0
RV32I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423160"/>
            <a:ext cx="1920240" cy="77724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C2A39"/>
                </a:solidFill>
                <a:latin typeface="Aptos"/>
              </a:rPr>
              <a:t>E-Core 1
RV32I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749039"/>
            <a:ext cx="384048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Private L1 I/D caches
P: 16 KB 2-way WB | E: 8 KB direct-mapped WT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0" y="1600200"/>
            <a:ext cx="2148840" cy="20116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Coherent
Interconnect
+ MSI snoop bus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097280"/>
            <a:ext cx="2560320" cy="713232"/>
          </a:xfrm>
          <a:prstGeom prst="roundRect">
            <a:avLst/>
          </a:prstGeom>
          <a:solidFill>
            <a:srgbClr val="FCF0DD"/>
          </a:solidFill>
          <a:ln w="15240">
            <a:solidFill>
              <a:srgbClr val="EA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Shared L2 cache
64 KB · 4-way · inclusive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21040" y="2148840"/>
            <a:ext cx="2560320" cy="713232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SRAM / Boot ROM
main memory model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3200400"/>
            <a:ext cx="1188720" cy="713232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UART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92640" y="3200400"/>
            <a:ext cx="1188720" cy="713232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IRQ ctrl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66360" y="4617720"/>
            <a:ext cx="2697480" cy="658368"/>
          </a:xfrm>
          <a:prstGeom prst="roundRect">
            <a:avLst/>
          </a:prstGeom>
          <a:solidFill>
            <a:srgbClr val="F4EBEE"/>
          </a:solidFill>
          <a:ln w="15240">
            <a:solidFill>
              <a:srgbClr val="C94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Migration + Power Manager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23160" y="1755648"/>
            <a:ext cx="3063240" cy="301752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423160" y="2423160"/>
            <a:ext cx="3063240" cy="393192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00600" y="1755648"/>
            <a:ext cx="685800" cy="301752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4800600" y="2423160"/>
            <a:ext cx="685800" cy="393192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635240" y="1453896"/>
            <a:ext cx="685800" cy="603504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635240" y="2331720"/>
            <a:ext cx="685800" cy="173736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635240" y="2606040"/>
            <a:ext cx="685800" cy="950976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37960" y="3611880"/>
            <a:ext cx="0" cy="100584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4. Heterogeneous core microarchitectures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Same ISA family, deliberately different cost/performance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257800" cy="54864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C2A39"/>
                </a:solidFill>
                <a:latin typeface="Aptos"/>
              </a:rPr>
              <a:t>Efficiency Core — RV32I · 3-stage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93392"/>
            <a:ext cx="1417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FETCH
PC · I-Mem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04872" y="1993392"/>
            <a:ext cx="1417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DECODE / REG RD
Decode · RegFile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32504" y="1993392"/>
            <a:ext cx="1417320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EXEC / MEM / WB
ALU · D-Mem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194560" y="2414016"/>
            <a:ext cx="210312" cy="0"/>
          </a:xfrm>
          <a:prstGeom prst="line">
            <a:avLst/>
          </a:prstGeom>
          <a:ln w="22860">
            <a:solidFill>
              <a:srgbClr val="1B9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22191" y="2414016"/>
            <a:ext cx="210313" cy="0"/>
          </a:xfrm>
          <a:prstGeom prst="line">
            <a:avLst/>
          </a:prstGeom>
          <a:ln w="22860">
            <a:solidFill>
              <a:srgbClr val="1B947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20040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A39"/>
                </a:solidFill>
                <a:latin typeface="Aptos"/>
              </a:defRPr>
            </a:pPr>
            <a:r>
              <a:t>Static not-taken branch policy; simple forwarding and load-use stall.</a:t>
            </a:r>
          </a:p>
          <a:p>
            <a:pPr>
              <a:spcAft>
                <a:spcPts val="800"/>
              </a:spcAft>
              <a:defRPr sz="1400">
                <a:solidFill>
                  <a:srgbClr val="1C2A39"/>
                </a:solidFill>
                <a:latin typeface="Aptos"/>
              </a:defRPr>
            </a:pPr>
            <a:r>
              <a:t>Smallest area/power target for low-intensity work.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88720"/>
            <a:ext cx="5257800" cy="54864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1C2A39"/>
                </a:solidFill>
                <a:latin typeface="Aptos"/>
              </a:rPr>
              <a:t>Performance Core — RV32IM · 5-stage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36792" y="1993392"/>
            <a:ext cx="8412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2A39"/>
                </a:solidFill>
                <a:latin typeface="Aptos"/>
              </a:rPr>
              <a:t>IF
I$ · BHT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4" y="1993392"/>
            <a:ext cx="8412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2A39"/>
                </a:solidFill>
                <a:latin typeface="Aptos"/>
              </a:rPr>
              <a:t>ID
Decode · RF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11896" y="1993392"/>
            <a:ext cx="8412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2A39"/>
                </a:solidFill>
                <a:latin typeface="Aptos"/>
              </a:rPr>
              <a:t>EX
ALU · MUL/DIV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99448" y="1993392"/>
            <a:ext cx="8412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2A39"/>
                </a:solidFill>
                <a:latin typeface="Aptos"/>
              </a:rPr>
              <a:t>MEM
D$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287000" y="1993392"/>
            <a:ext cx="841248" cy="8412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C2A39"/>
                </a:solidFill>
                <a:latin typeface="Aptos"/>
              </a:rPr>
              <a:t>WB
Writeback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78040" y="2414016"/>
            <a:ext cx="146304" cy="0"/>
          </a:xfrm>
          <a:prstGeom prst="line">
            <a:avLst/>
          </a:prstGeom>
          <a:ln w="22860">
            <a:solidFill>
              <a:srgbClr val="24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165592" y="2414016"/>
            <a:ext cx="146304" cy="0"/>
          </a:xfrm>
          <a:prstGeom prst="line">
            <a:avLst/>
          </a:prstGeom>
          <a:ln w="22860">
            <a:solidFill>
              <a:srgbClr val="24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153144" y="2414016"/>
            <a:ext cx="146304" cy="0"/>
          </a:xfrm>
          <a:prstGeom prst="line">
            <a:avLst/>
          </a:prstGeom>
          <a:ln w="22860">
            <a:solidFill>
              <a:srgbClr val="24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140696" y="2414016"/>
            <a:ext cx="146304" cy="0"/>
          </a:xfrm>
          <a:prstGeom prst="line">
            <a:avLst/>
          </a:prstGeom>
          <a:ln w="22860">
            <a:solidFill>
              <a:srgbClr val="24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0" y="32004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A39"/>
                </a:solidFill>
                <a:latin typeface="Aptos"/>
              </a:defRPr>
            </a:pPr>
            <a:r>
              <a:t>Full forwarding; 256-entry 2-bit BHT + BTB; iterative M extension.</a:t>
            </a:r>
          </a:p>
          <a:p>
            <a:pPr>
              <a:spcAft>
                <a:spcPts val="800"/>
              </a:spcAft>
              <a:defRPr sz="1400">
                <a:solidFill>
                  <a:srgbClr val="1C2A39"/>
                </a:solidFill>
                <a:latin typeface="Aptos"/>
              </a:defRPr>
            </a:pPr>
            <a:r>
              <a:t>Counters: cycles, retired instructions, branch/cache misses.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5. Memory hierarchy &amp; MSI cache coherence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Private L1 speed with shared-data correctness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2331720" cy="68580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P-cluster L1
16 KB · 2-way · write-back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212848"/>
            <a:ext cx="2331720" cy="68580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E-cluster L1
8 KB · direct map · write-through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664208"/>
            <a:ext cx="2331720" cy="82296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Snoop / coherence bus
BusRd · BusRdX · BusUpgr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1664208"/>
            <a:ext cx="2560320" cy="822960"/>
          </a:xfrm>
          <a:prstGeom prst="roundRect">
            <a:avLst/>
          </a:prstGeom>
          <a:solidFill>
            <a:srgbClr val="FCF0DD"/>
          </a:solidFill>
          <a:ln w="15240">
            <a:solidFill>
              <a:srgbClr val="EA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Shared L2
64 KB · 4-way · inclusive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66960" y="1664208"/>
            <a:ext cx="1463040" cy="82296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C2A39"/>
                </a:solidFill>
                <a:latin typeface="Aptos"/>
              </a:rPr>
              <a:t>SRAM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26080" y="1572768"/>
            <a:ext cx="960120" cy="393192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926080" y="2240280"/>
            <a:ext cx="960120" cy="310896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217920" y="2084831"/>
            <a:ext cx="91440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692640" y="2084831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13232" y="36576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Aptos"/>
              </a:rPr>
              <a:t>MSI line states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14800"/>
            <a:ext cx="1005840" cy="594360"/>
          </a:xfrm>
          <a:prstGeom prst="roundRect">
            <a:avLst/>
          </a:prstGeom>
          <a:solidFill>
            <a:srgbClr val="F4EBEE"/>
          </a:solidFill>
          <a:ln w="15240">
            <a:solidFill>
              <a:srgbClr val="C94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I
Invalid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23160" y="4114800"/>
            <a:ext cx="1005840" cy="59436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S
Shared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114800"/>
            <a:ext cx="1005840" cy="594360"/>
          </a:xfrm>
          <a:prstGeom prst="roundRect">
            <a:avLst/>
          </a:prstGeom>
          <a:solidFill>
            <a:srgbClr val="FCF0DD"/>
          </a:solidFill>
          <a:ln w="15240">
            <a:solidFill>
              <a:srgbClr val="EA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M
Modified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828800" y="4407408"/>
            <a:ext cx="59436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429000" y="4407408"/>
            <a:ext cx="59436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828800" y="4846320"/>
            <a:ext cx="2697480" cy="0"/>
          </a:xfrm>
          <a:prstGeom prst="line">
            <a:avLst/>
          </a:prstGeom>
          <a:ln w="22860">
            <a:solidFill>
              <a:srgbClr val="C94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21208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86978"/>
                </a:solidFill>
                <a:latin typeface="Aptos"/>
              </a:rPr>
              <a:t>Read miss: I→S. Write miss/upgrade: I/S→M.
Snoops invalidate or flush dirty data when ownership changes.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703320"/>
            <a:ext cx="44805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C2A39"/>
                </a:solidFill>
                <a:latin typeface="Aptos"/>
              </a:defRPr>
            </a:pPr>
            <a:r>
              <a:t>Snooping is practical for this 4-core project.</a:t>
            </a:r>
          </a:p>
          <a:p>
            <a:pPr>
              <a:spcAft>
                <a:spcPts val="800"/>
              </a:spcAft>
              <a:defRPr sz="1400">
                <a:solidFill>
                  <a:srgbClr val="1C2A39"/>
                </a:solidFill>
                <a:latin typeface="Aptos"/>
              </a:defRPr>
            </a:pPr>
            <a:r>
              <a:t>L2 snoop filter tracks L1 sharers.</a:t>
            </a:r>
          </a:p>
          <a:p>
            <a:pPr>
              <a:spcAft>
                <a:spcPts val="800"/>
              </a:spcAft>
              <a:defRPr sz="1400">
                <a:solidFill>
                  <a:srgbClr val="1C2A39"/>
                </a:solidFill>
                <a:latin typeface="Aptos"/>
              </a:defRPr>
            </a:pPr>
            <a:r>
              <a:t>Start with one outstanding miss/core to keep control logic manageable.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6. Task migration &amp; power-management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Hardware-assisted, software-controlled migration 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54480"/>
            <a:ext cx="1691640" cy="64008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IDLE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042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wait for event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1874519"/>
            <a:ext cx="54864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770632" y="1554480"/>
            <a:ext cx="1691640" cy="64008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SAVE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70632" y="23042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32 regs + PC + key CSRs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62272" y="1874519"/>
            <a:ext cx="54864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038344" y="1554480"/>
            <a:ext cx="1691640" cy="64008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TRANSFER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23042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migration buffer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729983" y="1874519"/>
            <a:ext cx="548641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06055" y="1554480"/>
            <a:ext cx="1691640" cy="64008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RESTORE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6055" y="23042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load destination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97696" y="1874519"/>
            <a:ext cx="54864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573768" y="1554480"/>
            <a:ext cx="1691640" cy="64008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DONE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73768" y="230428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resume task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246120"/>
            <a:ext cx="3017520" cy="86868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Triggers
IPC threshold · software CSR · power budget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3246120"/>
            <a:ext cx="3017520" cy="868680"/>
          </a:xfrm>
          <a:prstGeom prst="roundRect">
            <a:avLst/>
          </a:prstGeom>
          <a:solidFill>
            <a:srgbClr val="FCF0DD"/>
          </a:solidFill>
          <a:ln w="15240">
            <a:solidFill>
              <a:srgbClr val="EA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Safety actions
quiesce core · flush/confirm state · atomic hand-off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0" y="3246120"/>
            <a:ext cx="3017520" cy="86868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Power control
per-core clock enable · wake-on-interrupt · DVFS stub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749039" y="3675887"/>
            <a:ext cx="822961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589520" y="3675887"/>
            <a:ext cx="82296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4892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Design rule: the architecture preserves architectural state and resumes at the saved PC; basic control is exposed through memory-mapped CSRs.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7. Module interfaces — how the blocks link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Keep the top level testable by defining clean, narrow interfaces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43584"/>
            <a:ext cx="2743200" cy="53035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Core ↔ L1 cache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243584"/>
            <a:ext cx="78181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C2A39"/>
                </a:solidFill>
                <a:latin typeface="Aptos"/>
              </a:rPr>
              <a:t>instruction/data request, address, byte enables, response, stall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21408"/>
            <a:ext cx="2743200" cy="53035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L1 ↔ coherent fabric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121408"/>
            <a:ext cx="78181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C2A39"/>
                </a:solidFill>
                <a:latin typeface="Aptos"/>
              </a:rPr>
              <a:t>miss request, refill/writeback, snoop command, ack/data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999232"/>
            <a:ext cx="2743200" cy="53035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Fabric ↔ L2/SRAM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2999232"/>
            <a:ext cx="78181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C2A39"/>
                </a:solidFill>
                <a:latin typeface="Aptos"/>
              </a:rPr>
              <a:t>address decode, arbitration, read/write channel, response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877056"/>
            <a:ext cx="2743200" cy="53035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Migration manager ↔ cores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11880" y="3877056"/>
            <a:ext cx="78181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C2A39"/>
                </a:solidFill>
                <a:latin typeface="Aptos"/>
              </a:rPr>
              <a:t>halt/ack, register-state port, resume PC, interrupt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54880"/>
            <a:ext cx="2743200" cy="53035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CSRs ↔ software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4754880"/>
            <a:ext cx="7818120" cy="5303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0">
                <a:solidFill>
                  <a:srgbClr val="1C2A39"/>
                </a:solidFill>
                <a:latin typeface="Aptos"/>
              </a:rPr>
              <a:t>memory-mapped control, status, performance counters, IRQ enable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870448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6978"/>
                </a:solidFill>
                <a:latin typeface="Aptos"/>
              </a:rPr>
              <a:t>Recommended implementation order: define interfaces and standalone test benches before integrating the adjacent module.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8. Required parts &amp; software toolchain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All deliverables are RTL- and verification-focused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5212080" cy="50292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2A39"/>
                </a:solidFill>
                <a:latin typeface="Aptos"/>
              </a:rPr>
              <a:t>RTL / design components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49834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SystemVerilog RTL: cores, caches, MSI controller, fabric, migration/power blocks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Boot ROM + synthesizable SRAM models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RISC-V bare-metal startup code and linker script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Memory-mapped UART / interrupt-controller models for system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188720"/>
            <a:ext cx="5212080" cy="50292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C2A39"/>
                </a:solidFill>
                <a:latin typeface="Aptos"/>
              </a:rPr>
              <a:t>Software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49834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Verilator — fast linting, simulation and coverage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GTKWave — VCD/FST waveform inspection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RISC-V GCC / binutils — bare-metal test programs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Yosys — synthesis and area estimates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SymbiYosys + riscv-formal — optional formal properties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OpenROAD / OpenLane — optional RTL-to-GDSII exploration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06440"/>
            <a:ext cx="10424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86978"/>
                </a:solidFill>
                <a:latin typeface="Aptos"/>
              </a:rPr>
              <a:t>Version control: Git + Makefile-based repeatable regressions. FPGA tools are intentionally not required.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9. Verification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Verification grows from small blocks to full system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07008"/>
            <a:ext cx="576072" cy="57607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1207008"/>
            <a:ext cx="2148840" cy="57607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Unit tests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207008"/>
            <a:ext cx="7086600" cy="576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C2A39"/>
                </a:solidFill>
                <a:latin typeface="Aptos"/>
              </a:rPr>
              <a:t>ALU · decoder · regfile · cache FSM · arbiter · migration FSM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31136"/>
            <a:ext cx="576072" cy="57607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2231136"/>
            <a:ext cx="2148840" cy="57607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Module integration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86200" y="2231136"/>
            <a:ext cx="7086600" cy="576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C2A39"/>
                </a:solidFill>
                <a:latin typeface="Aptos"/>
              </a:rPr>
              <a:t>core + L1 · fabric + slaves · L2 refill/writeback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255264"/>
            <a:ext cx="576072" cy="57607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255264"/>
            <a:ext cx="2148840" cy="57607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Subsystem tests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886200" y="3255264"/>
            <a:ext cx="7086600" cy="576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C2A39"/>
                </a:solidFill>
                <a:latin typeface="Aptos"/>
              </a:rPr>
              <a:t>coherence ping-pong · contention · migration sequences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279392"/>
            <a:ext cx="576072" cy="576072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63040" y="4279392"/>
            <a:ext cx="2148840" cy="576072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System regression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4279392"/>
            <a:ext cx="7086600" cy="576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EC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0">
                <a:solidFill>
                  <a:srgbClr val="1C2A39"/>
                </a:solidFill>
                <a:latin typeface="Aptos"/>
              </a:rPr>
              <a:t>boot · multi-core programs · UART output · performance counters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623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1B2A"/>
                </a:solidFill>
                <a:latin typeface="Aptos"/>
              </a:rPr>
              <a:t>Key checks: rv32ui / rv32um ISA tests, hazard tests, cache writeback, MSI producer–consumer, false sharing, migration state preservation and random traffic stress.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10. Design and verification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A gated flow minimizes integration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1572768" cy="640080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Specify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22199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ISA subset, cache parameters, interfaces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84248" y="1783080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13432" y="1463040"/>
            <a:ext cx="1572768" cy="64008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Implement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3432" y="222199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module RTL + assertions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886200" y="1783080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15384" y="1463040"/>
            <a:ext cx="1572768" cy="64008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Simulate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222199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directed tests + waveforms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88152" y="1783080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117336" y="1463040"/>
            <a:ext cx="1572768" cy="64008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Integrate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222199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adjacent blocks, then SoC top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90104" y="1783080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019288" y="1463040"/>
            <a:ext cx="1572768" cy="64008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Regress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22199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ISA tests + system scenarios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592056" y="1783080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921240" y="1463040"/>
            <a:ext cx="1572768" cy="64008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C2A39"/>
                </a:solidFill>
                <a:latin typeface="Aptos"/>
              </a:rPr>
              <a:t>Measure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2221992"/>
            <a:ext cx="15727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coverage, IPC, misses, synthesis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3337560"/>
            <a:ext cx="3154680" cy="1097280"/>
          </a:xfrm>
          <a:prstGeom prst="roundRect">
            <a:avLst/>
          </a:prstGeom>
          <a:solidFill>
            <a:srgbClr val="DFF3ED"/>
          </a:solidFill>
          <a:ln w="15240">
            <a:solidFill>
              <a:srgbClr val="1B9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Exit gate: core
ISA tests + hazards pass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3337560"/>
            <a:ext cx="3154680" cy="1097280"/>
          </a:xfrm>
          <a:prstGeom prst="roundRect">
            <a:avLst/>
          </a:prstGeom>
          <a:solidFill>
            <a:srgbClr val="FCF0DD"/>
          </a:solidFill>
          <a:ln w="15240">
            <a:solidFill>
              <a:srgbClr val="EA8B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Exit gate: memory
cache + MSI tests pass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3337560"/>
            <a:ext cx="3154680" cy="1097280"/>
          </a:xfrm>
          <a:prstGeom prst="roundRect">
            <a:avLst/>
          </a:prstGeom>
          <a:solidFill>
            <a:srgbClr val="F4EBEE"/>
          </a:solidFill>
          <a:ln w="15240">
            <a:solidFill>
              <a:srgbClr val="C94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C2A39"/>
                </a:solidFill>
                <a:latin typeface="Aptos"/>
              </a:rPr>
              <a:t>Exit gate: SoC
boot + migration pass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2578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D1B2A"/>
                </a:solidFill>
                <a:latin typeface="Aptos"/>
              </a:rPr>
              <a:t>Do not begin physical design until the RTL regression is stable. Preserve reports and waveforms as project evidence.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11. Milestone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Prioritize a credible verified MVP before advanced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115568"/>
            <a:ext cx="1965960" cy="45720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M1 · 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188720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A39"/>
                </a:solidFill>
                <a:latin typeface="Aptos"/>
              </a:rPr>
              <a:t>ALU, regfile, decoder, test infrastructure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1115568"/>
            <a:ext cx="1737360" cy="4572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2A39"/>
                </a:solidFill>
                <a:latin typeface="Aptos"/>
              </a:rPr>
              <a:t>Week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28800"/>
            <a:ext cx="1965960" cy="45720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M2 · E-Core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901952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A39"/>
                </a:solidFill>
                <a:latin typeface="Aptos"/>
              </a:rPr>
              <a:t>3-stage RV32I + rv32ui regression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828800"/>
            <a:ext cx="1737360" cy="4572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2A39"/>
                </a:solidFill>
                <a:latin typeface="Aptos"/>
              </a:rPr>
              <a:t>Weeks 2–4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542032"/>
            <a:ext cx="1965960" cy="45720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M3 · P-Core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615184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A39"/>
                </a:solidFill>
                <a:latin typeface="Aptos"/>
              </a:rPr>
              <a:t>5-stage RV32IM, BHT/BTB, rv32um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42032"/>
            <a:ext cx="1737360" cy="4572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2A39"/>
                </a:solidFill>
                <a:latin typeface="Aptos"/>
              </a:rPr>
              <a:t>Weeks 5–7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55263"/>
            <a:ext cx="1965960" cy="45720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M4 ·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328415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A39"/>
                </a:solidFill>
                <a:latin typeface="Aptos"/>
              </a:rPr>
              <a:t>L1/L2 + MSI coherence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3255263"/>
            <a:ext cx="1737360" cy="4572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2A39"/>
                </a:solidFill>
                <a:latin typeface="Aptos"/>
              </a:rPr>
              <a:t>Weeks 8–11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968496"/>
            <a:ext cx="1965960" cy="45720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M5 ·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041648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A39"/>
                </a:solidFill>
                <a:latin typeface="Aptos"/>
              </a:rPr>
              <a:t>integration, migration, power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3968496"/>
            <a:ext cx="1737360" cy="4572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2A39"/>
                </a:solidFill>
                <a:latin typeface="Aptos"/>
              </a:rPr>
              <a:t>Weeks 12–14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681728"/>
            <a:ext cx="1965960" cy="457200"/>
          </a:xfrm>
          <a:prstGeom prst="roundRect">
            <a:avLst/>
          </a:prstGeom>
          <a:solidFill>
            <a:srgbClr val="DEEFF9"/>
          </a:solidFill>
          <a:ln w="15240">
            <a:solidFill>
              <a:srgbClr val="24B4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C2A39"/>
                </a:solidFill>
                <a:latin typeface="Aptos"/>
              </a:rPr>
              <a:t>M6 · Closure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4754880"/>
            <a:ext cx="6172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2A39"/>
                </a:solidFill>
                <a:latin typeface="Aptos"/>
              </a:rPr>
              <a:t>full regression, synthesis; optional GDSII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26880" y="4681728"/>
            <a:ext cx="1737360" cy="4572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2A39"/>
                </a:solidFill>
                <a:latin typeface="Aptos"/>
              </a:rPr>
              <a:t>Weeks 15–16+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580644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86978"/>
                </a:solidFill>
                <a:latin typeface="Aptos"/>
              </a:rPr>
              <a:t>MVP fallback: one E-Core + one P-Core, simple L1 caches, SRAM, UART, and no migration/coherence optimizations. Expand only after this is stable.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12. Optional ASIC implementation flow — only if time permits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An exploration flow, not a tape-out promise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" y="1508760"/>
            <a:ext cx="1600200" cy="6858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Verified RTL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331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frozen regression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93392" y="1856231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331720" y="1508760"/>
            <a:ext cx="1600200" cy="6858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Synthesis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331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Yosys / constraints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31920" y="1856231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70248" y="1508760"/>
            <a:ext cx="1600200" cy="6858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Floorplan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0248" y="2331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area, IO, power grid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70448" y="1856231"/>
            <a:ext cx="274320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08776" y="1508760"/>
            <a:ext cx="1600200" cy="6858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Place &amp;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331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OpenROAD/OpenLane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08975" y="1856231"/>
            <a:ext cx="274321" cy="0"/>
          </a:xfrm>
          <a:prstGeom prst="line">
            <a:avLst/>
          </a:prstGeom>
          <a:ln w="22860">
            <a:solidFill>
              <a:srgbClr val="146B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47304" y="1508760"/>
            <a:ext cx="1600200" cy="685800"/>
          </a:xfrm>
          <a:prstGeom prst="roundRect">
            <a:avLst/>
          </a:prstGeom>
          <a:solidFill>
            <a:srgbClr val="EFF5F8"/>
          </a:solidFill>
          <a:ln w="15240">
            <a:solidFill>
              <a:srgbClr val="146B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Sign-off checks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7304" y="2331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DRC/LVS/STA review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47504" y="1856231"/>
            <a:ext cx="274320" cy="0"/>
          </a:xfrm>
          <a:prstGeom prst="line">
            <a:avLst/>
          </a:prstGeom>
          <a:ln w="22860">
            <a:solidFill>
              <a:srgbClr val="C94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085832" y="1508760"/>
            <a:ext cx="1600200" cy="685800"/>
          </a:xfrm>
          <a:prstGeom prst="roundRect">
            <a:avLst/>
          </a:prstGeom>
          <a:solidFill>
            <a:srgbClr val="F4EBEE"/>
          </a:solidFill>
          <a:ln w="15240">
            <a:solidFill>
              <a:srgbClr val="C94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C2A39"/>
                </a:solidFill>
                <a:latin typeface="Aptos"/>
              </a:rPr>
              <a:t>GDSII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85832" y="233172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86978"/>
                </a:solidFill>
                <a:latin typeface="Aptos"/>
              </a:rPr>
              <a:t>final layout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337560"/>
            <a:ext cx="104241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Inputs required: synthesizable RTL, SDC timing constraints, standard-cell/PDK collateral and validated memory macros.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Report area, timing and power estimates honestly; use a supported open PDK only if the environment and schedule allow.</a:t>
            </a:r>
          </a:p>
          <a:p>
            <a:pPr>
              <a:spcAft>
                <a:spcPts val="800"/>
              </a:spcAft>
              <a:defRPr sz="1500">
                <a:solidFill>
                  <a:srgbClr val="1C2A39"/>
                </a:solidFill>
                <a:latin typeface="Aptos"/>
              </a:defRPr>
            </a:pPr>
            <a:r>
              <a:t>Primary academic deliverable remains a verified RTL design and documented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D1B2A"/>
                </a:solidFill>
                <a:latin typeface="Aptos"/>
              </a:rPr>
              <a:t>13. Expected deliverables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31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6978"/>
                </a:solidFill>
                <a:latin typeface="Aptos"/>
              </a:rPr>
              <a:t>What the completed project presentation and repository will show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2823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86978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2011680" cy="493776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61872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A39"/>
                </a:solidFill>
                <a:latin typeface="Aptos"/>
              </a:rPr>
              <a:t>top-level block diagram, core/cache/migration microarchitecture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47672"/>
            <a:ext cx="2011680" cy="493776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RTL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2020824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A39"/>
                </a:solidFill>
                <a:latin typeface="Aptos"/>
              </a:rPr>
              <a:t>clean SystemVerilog hierarchy with documented interfaces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706624"/>
            <a:ext cx="2011680" cy="493776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Verification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779776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A39"/>
                </a:solidFill>
                <a:latin typeface="Aptos"/>
              </a:rPr>
              <a:t>test plan, regressions, waveforms, coverage/formal results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65576"/>
            <a:ext cx="2011680" cy="493776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3538728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A39"/>
                </a:solidFill>
                <a:latin typeface="Aptos"/>
              </a:rPr>
              <a:t>benchmark counters, cache/coherence and migration demonstrations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24528"/>
            <a:ext cx="2011680" cy="493776"/>
          </a:xfrm>
          <a:prstGeom prst="roundRect">
            <a:avLst/>
          </a:prstGeom>
          <a:solidFill>
            <a:srgbClr val="0D1B2A"/>
          </a:solidFill>
          <a:ln w="1524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Implementation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63240" y="4297680"/>
            <a:ext cx="7863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C2A39"/>
                </a:solidFill>
                <a:latin typeface="Aptos"/>
              </a:rPr>
              <a:t>synthesis reports; optional physical-design/GDSII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235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D1B2A"/>
                </a:solidFill>
                <a:latin typeface="Aptos"/>
              </a:rPr>
              <a:t>Final message: build a verified heterogeneous RISC-V SoC in deliberate stages; treat physical design as an optional final extension.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A1 — big.LITTLE Heterogeneous Multi-Core SoC</dc:title>
  <dc:subject>Design and verification presentation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